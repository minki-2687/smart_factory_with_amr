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8" r:id="rId2"/>
  </p:sldIdLst>
  <p:sldSz cx="32399288" cy="43200638"/>
  <p:notesSz cx="6797675" cy="98742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458" userDrawn="1">
          <p15:clr>
            <a:srgbClr val="A4A3A4"/>
          </p15:clr>
        </p15:guide>
        <p15:guide id="2" pos="102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09528B"/>
    <a:srgbClr val="003C78"/>
    <a:srgbClr val="013D7D"/>
    <a:srgbClr val="FFFFFF"/>
    <a:srgbClr val="0F5791"/>
    <a:srgbClr val="548235"/>
    <a:srgbClr val="03113C"/>
    <a:srgbClr val="02255B"/>
    <a:srgbClr val="004A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AEAF34-06CC-456E-82B3-3C5676D9DC95}" v="24" dt="2021-03-20T22:52:09.7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56" autoAdjust="0"/>
    <p:restoredTop sz="96967" autoAdjust="0"/>
  </p:normalViewPr>
  <p:slideViewPr>
    <p:cSldViewPr snapToGrid="0" showGuides="1">
      <p:cViewPr>
        <p:scale>
          <a:sx n="50" d="100"/>
          <a:sy n="50" d="100"/>
        </p:scale>
        <p:origin x="1848" y="-384"/>
      </p:cViewPr>
      <p:guideLst>
        <p:guide orient="horz" pos="19458"/>
        <p:guide pos="1022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 YJ" userId="a554affaac2c5873" providerId="LiveId" clId="{86AEAF34-06CC-456E-82B3-3C5676D9DC95}"/>
    <pc:docChg chg="undo custSel modSld">
      <pc:chgData name="LEE YJ" userId="a554affaac2c5873" providerId="LiveId" clId="{86AEAF34-06CC-456E-82B3-3C5676D9DC95}" dt="2021-03-20T22:52:09.783" v="185"/>
      <pc:docMkLst>
        <pc:docMk/>
      </pc:docMkLst>
      <pc:sldChg chg="addSp delSp modSp mod setBg">
        <pc:chgData name="LEE YJ" userId="a554affaac2c5873" providerId="LiveId" clId="{86AEAF34-06CC-456E-82B3-3C5676D9DC95}" dt="2021-03-20T22:52:09.783" v="185"/>
        <pc:sldMkLst>
          <pc:docMk/>
          <pc:sldMk cId="2947631688" sldId="267"/>
        </pc:sldMkLst>
        <pc:spChg chg="add del mod">
          <ac:chgData name="LEE YJ" userId="a554affaac2c5873" providerId="LiveId" clId="{86AEAF34-06CC-456E-82B3-3C5676D9DC95}" dt="2021-03-20T22:42:23.901" v="71" actId="478"/>
          <ac:spMkLst>
            <pc:docMk/>
            <pc:sldMk cId="2947631688" sldId="267"/>
            <ac:spMk id="2" creationId="{A79F2C61-A0EC-46FF-9BD8-554817C5B52E}"/>
          </ac:spMkLst>
        </pc:spChg>
        <pc:spChg chg="add mod">
          <ac:chgData name="LEE YJ" userId="a554affaac2c5873" providerId="LiveId" clId="{86AEAF34-06CC-456E-82B3-3C5676D9DC95}" dt="2021-03-20T22:48:55.851" v="175" actId="14100"/>
          <ac:spMkLst>
            <pc:docMk/>
            <pc:sldMk cId="2947631688" sldId="267"/>
            <ac:spMk id="3" creationId="{F2C2C54C-B24A-4FFB-A9C4-30D1EC657A29}"/>
          </ac:spMkLst>
        </pc:spChg>
        <pc:spChg chg="add mod">
          <ac:chgData name="LEE YJ" userId="a554affaac2c5873" providerId="LiveId" clId="{86AEAF34-06CC-456E-82B3-3C5676D9DC95}" dt="2021-03-20T22:49:08.051" v="178" actId="14100"/>
          <ac:spMkLst>
            <pc:docMk/>
            <pc:sldMk cId="2947631688" sldId="267"/>
            <ac:spMk id="16" creationId="{0E26A912-5504-424C-A90F-A2D5D65E5AF0}"/>
          </ac:spMkLst>
        </pc:spChg>
        <pc:spChg chg="add mod">
          <ac:chgData name="LEE YJ" userId="a554affaac2c5873" providerId="LiveId" clId="{86AEAF34-06CC-456E-82B3-3C5676D9DC95}" dt="2021-03-20T22:46:01.896" v="149" actId="1076"/>
          <ac:spMkLst>
            <pc:docMk/>
            <pc:sldMk cId="2947631688" sldId="267"/>
            <ac:spMk id="17" creationId="{596460CE-FBF7-4669-A93B-E8BCECEDBB7C}"/>
          </ac:spMkLst>
        </pc:spChg>
        <pc:spChg chg="add mod">
          <ac:chgData name="LEE YJ" userId="a554affaac2c5873" providerId="LiveId" clId="{86AEAF34-06CC-456E-82B3-3C5676D9DC95}" dt="2021-03-20T22:46:20.055" v="155" actId="1076"/>
          <ac:spMkLst>
            <pc:docMk/>
            <pc:sldMk cId="2947631688" sldId="267"/>
            <ac:spMk id="18" creationId="{144BA33D-C85F-4A90-9734-18B225BC5AB1}"/>
          </ac:spMkLst>
        </pc:spChg>
        <pc:spChg chg="add mod">
          <ac:chgData name="LEE YJ" userId="a554affaac2c5873" providerId="LiveId" clId="{86AEAF34-06CC-456E-82B3-3C5676D9DC95}" dt="2021-03-20T22:48:08.846" v="165" actId="1076"/>
          <ac:spMkLst>
            <pc:docMk/>
            <pc:sldMk cId="2947631688" sldId="267"/>
            <ac:spMk id="19" creationId="{72EDFF9B-FDC4-4EC0-90F8-8877935E6734}"/>
          </ac:spMkLst>
        </pc:spChg>
        <pc:spChg chg="add del mod">
          <ac:chgData name="LEE YJ" userId="a554affaac2c5873" providerId="LiveId" clId="{86AEAF34-06CC-456E-82B3-3C5676D9DC95}" dt="2021-03-20T22:48:17.550" v="167"/>
          <ac:spMkLst>
            <pc:docMk/>
            <pc:sldMk cId="2947631688" sldId="267"/>
            <ac:spMk id="20" creationId="{70765193-4497-4B5F-9184-46722FD37C50}"/>
          </ac:spMkLst>
        </pc:spChg>
        <pc:spChg chg="add mod">
          <ac:chgData name="LEE YJ" userId="a554affaac2c5873" providerId="LiveId" clId="{86AEAF34-06CC-456E-82B3-3C5676D9DC95}" dt="2021-03-20T22:48:41.594" v="174" actId="14100"/>
          <ac:spMkLst>
            <pc:docMk/>
            <pc:sldMk cId="2947631688" sldId="267"/>
            <ac:spMk id="21" creationId="{3AC47FF2-3F5E-4504-B090-AAAAC030344B}"/>
          </ac:spMkLst>
        </pc:spChg>
        <pc:spChg chg="del mod">
          <ac:chgData name="LEE YJ" userId="a554affaac2c5873" providerId="LiveId" clId="{86AEAF34-06CC-456E-82B3-3C5676D9DC95}" dt="2021-03-20T22:24:41.708" v="51" actId="478"/>
          <ac:spMkLst>
            <pc:docMk/>
            <pc:sldMk cId="2947631688" sldId="267"/>
            <ac:spMk id="23" creationId="{00000000-0000-0000-0000-000000000000}"/>
          </ac:spMkLst>
        </pc:spChg>
        <pc:spChg chg="mod">
          <ac:chgData name="LEE YJ" userId="a554affaac2c5873" providerId="LiveId" clId="{86AEAF34-06CC-456E-82B3-3C5676D9DC95}" dt="2021-03-20T22:23:57.863" v="38" actId="20577"/>
          <ac:spMkLst>
            <pc:docMk/>
            <pc:sldMk cId="2947631688" sldId="267"/>
            <ac:spMk id="38" creationId="{00000000-0000-0000-0000-000000000000}"/>
          </ac:spMkLst>
        </pc:spChg>
        <pc:spChg chg="del">
          <ac:chgData name="LEE YJ" userId="a554affaac2c5873" providerId="LiveId" clId="{86AEAF34-06CC-456E-82B3-3C5676D9DC95}" dt="2021-03-20T22:24:33.328" v="49" actId="478"/>
          <ac:spMkLst>
            <pc:docMk/>
            <pc:sldMk cId="2947631688" sldId="267"/>
            <ac:spMk id="48" creationId="{00000000-0000-0000-0000-000000000000}"/>
          </ac:spMkLst>
        </pc:spChg>
        <pc:spChg chg="del">
          <ac:chgData name="LEE YJ" userId="a554affaac2c5873" providerId="LiveId" clId="{86AEAF34-06CC-456E-82B3-3C5676D9DC95}" dt="2021-03-20T22:24:04.122" v="39" actId="478"/>
          <ac:spMkLst>
            <pc:docMk/>
            <pc:sldMk cId="2947631688" sldId="267"/>
            <ac:spMk id="57" creationId="{00000000-0000-0000-0000-000000000000}"/>
          </ac:spMkLst>
        </pc:spChg>
        <pc:spChg chg="mod">
          <ac:chgData name="LEE YJ" userId="a554affaac2c5873" providerId="LiveId" clId="{86AEAF34-06CC-456E-82B3-3C5676D9DC95}" dt="2021-03-20T22:23:48.174" v="36" actId="6549"/>
          <ac:spMkLst>
            <pc:docMk/>
            <pc:sldMk cId="2947631688" sldId="267"/>
            <ac:spMk id="83" creationId="{00000000-0000-0000-0000-000000000000}"/>
          </ac:spMkLst>
        </pc:spChg>
        <pc:spChg chg="mod">
          <ac:chgData name="LEE YJ" userId="a554affaac2c5873" providerId="LiveId" clId="{86AEAF34-06CC-456E-82B3-3C5676D9DC95}" dt="2021-03-20T22:23:38.410" v="7" actId="20577"/>
          <ac:spMkLst>
            <pc:docMk/>
            <pc:sldMk cId="2947631688" sldId="267"/>
            <ac:spMk id="127" creationId="{00000000-0000-0000-0000-000000000000}"/>
          </ac:spMkLst>
        </pc:spChg>
        <pc:spChg chg="mod ord">
          <ac:chgData name="LEE YJ" userId="a554affaac2c5873" providerId="LiveId" clId="{86AEAF34-06CC-456E-82B3-3C5676D9DC95}" dt="2021-03-20T22:48:27.434" v="170" actId="1076"/>
          <ac:spMkLst>
            <pc:docMk/>
            <pc:sldMk cId="2947631688" sldId="267"/>
            <ac:spMk id="234" creationId="{00000000-0000-0000-0000-000000000000}"/>
          </ac:spMkLst>
        </pc:spChg>
        <pc:picChg chg="del">
          <ac:chgData name="LEE YJ" userId="a554affaac2c5873" providerId="LiveId" clId="{86AEAF34-06CC-456E-82B3-3C5676D9DC95}" dt="2021-03-20T22:24:07.280" v="41" actId="478"/>
          <ac:picMkLst>
            <pc:docMk/>
            <pc:sldMk cId="2947631688" sldId="267"/>
            <ac:picMk id="22" creationId="{00000000-0000-0000-0000-000000000000}"/>
          </ac:picMkLst>
        </pc:picChg>
        <pc:picChg chg="del">
          <ac:chgData name="LEE YJ" userId="a554affaac2c5873" providerId="LiveId" clId="{86AEAF34-06CC-456E-82B3-3C5676D9DC95}" dt="2021-03-20T22:23:51.618" v="37" actId="478"/>
          <ac:picMkLst>
            <pc:docMk/>
            <pc:sldMk cId="2947631688" sldId="267"/>
            <ac:picMk id="124" creationId="{00000000-0000-0000-0000-000000000000}"/>
          </ac:picMkLst>
        </pc:picChg>
        <pc:picChg chg="del mod">
          <ac:chgData name="LEE YJ" userId="a554affaac2c5873" providerId="LiveId" clId="{86AEAF34-06CC-456E-82B3-3C5676D9DC95}" dt="2021-03-20T22:29:17.393" v="68" actId="478"/>
          <ac:picMkLst>
            <pc:docMk/>
            <pc:sldMk cId="2947631688" sldId="267"/>
            <ac:picMk id="140" creationId="{00000000-0000-0000-0000-000000000000}"/>
          </ac:picMkLst>
        </pc:picChg>
        <pc:picChg chg="del">
          <ac:chgData name="LEE YJ" userId="a554affaac2c5873" providerId="LiveId" clId="{86AEAF34-06CC-456E-82B3-3C5676D9DC95}" dt="2021-03-20T22:24:06.322" v="40" actId="478"/>
          <ac:picMkLst>
            <pc:docMk/>
            <pc:sldMk cId="2947631688" sldId="267"/>
            <ac:picMk id="228" creationId="{00000000-0000-0000-0000-000000000000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3CB5DC-FE6D-41AE-AB88-3D116122E932}" type="datetimeFigureOut">
              <a:rPr lang="ko-KR" altLang="en-US" smtClean="0"/>
              <a:pPr/>
              <a:t>2026-08-12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9475" y="1235075"/>
            <a:ext cx="2498725" cy="33321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51388"/>
            <a:ext cx="5438775" cy="38893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5E9DE-9A17-4DC5-B0EF-A071BB3E201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48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009775" y="739775"/>
            <a:ext cx="2778125" cy="37036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1AF1BA-83F7-49C4-9800-D297FEFDF4BF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4078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E3AA-791A-4454-83BC-785024B44FFC}" type="datetimeFigureOut">
              <a:rPr lang="ko-KR" altLang="en-US" smtClean="0"/>
              <a:pPr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8ED67-9C04-4113-9FBC-A0EA21C2C7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437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E3AA-791A-4454-83BC-785024B44FFC}" type="datetimeFigureOut">
              <a:rPr lang="ko-KR" altLang="en-US" smtClean="0"/>
              <a:pPr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8ED67-9C04-4113-9FBC-A0EA21C2C7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895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E3AA-791A-4454-83BC-785024B44FFC}" type="datetimeFigureOut">
              <a:rPr lang="ko-KR" altLang="en-US" smtClean="0"/>
              <a:pPr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8ED67-9C04-4113-9FBC-A0EA21C2C7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689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E3AA-791A-4454-83BC-785024B44FFC}" type="datetimeFigureOut">
              <a:rPr lang="ko-KR" altLang="en-US" smtClean="0"/>
              <a:pPr/>
              <a:t>2026-08-12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8ED67-9C04-4113-9FBC-A0EA21C2C7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753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E3AA-791A-4454-83BC-785024B44FFC}" type="datetimeFigureOut">
              <a:rPr lang="ko-KR" altLang="en-US" smtClean="0"/>
              <a:pPr/>
              <a:t>2026-08-12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8ED67-9C04-4113-9FBC-A0EA21C2C7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38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E3AA-791A-4454-83BC-785024B44FFC}" type="datetimeFigureOut">
              <a:rPr lang="ko-KR" altLang="en-US" smtClean="0"/>
              <a:pPr/>
              <a:t>2026-08-12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8ED67-9C04-4113-9FBC-A0EA21C2C7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772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E3AA-791A-4454-83BC-785024B44FFC}" type="datetimeFigureOut">
              <a:rPr lang="ko-KR" altLang="en-US" smtClean="0"/>
              <a:pPr/>
              <a:t>2026-08-12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8ED67-9C04-4113-9FBC-A0EA21C2C7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413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E3AA-791A-4454-83BC-785024B44FFC}" type="datetimeFigureOut">
              <a:rPr lang="ko-KR" altLang="en-US" smtClean="0"/>
              <a:pPr/>
              <a:t>2026-08-12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8ED67-9C04-4113-9FBC-A0EA21C2C7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497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E3AA-791A-4454-83BC-785024B44FFC}" type="datetimeFigureOut">
              <a:rPr lang="ko-KR" altLang="en-US" smtClean="0"/>
              <a:pPr/>
              <a:t>2026-08-12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8ED67-9C04-4113-9FBC-A0EA21C2C7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844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E3AA-791A-4454-83BC-785024B44FFC}" type="datetimeFigureOut">
              <a:rPr lang="ko-KR" altLang="en-US" smtClean="0"/>
              <a:pPr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8ED67-9C04-4113-9FBC-A0EA21C2C7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132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E3AA-791A-4454-83BC-785024B44FFC}" type="datetimeFigureOut">
              <a:rPr lang="ko-KR" altLang="en-US" smtClean="0"/>
              <a:pPr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8ED67-9C04-4113-9FBC-A0EA21C2C7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0945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0"/>
              </a:schemeClr>
            </a:gs>
            <a:gs pos="100000">
              <a:schemeClr val="accent1">
                <a:lumMod val="5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DE3AA-791A-4454-83BC-785024B44FFC}" type="datetimeFigureOut">
              <a:rPr lang="ko-KR" altLang="en-US" smtClean="0"/>
              <a:pPr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8ED67-9C04-4113-9FBC-A0EA21C2C7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9295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39902" rtl="0" eaLnBrk="1" latinLnBrk="1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1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모서리가 둥근 직사각형 27"/>
          <p:cNvSpPr/>
          <p:nvPr/>
        </p:nvSpPr>
        <p:spPr>
          <a:xfrm>
            <a:off x="345725" y="782950"/>
            <a:ext cx="31428268" cy="4010557"/>
          </a:xfrm>
          <a:prstGeom prst="roundRect">
            <a:avLst>
              <a:gd name="adj" fmla="val 6668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2800" dirty="0" err="1"/>
              <a:t>맑</a:t>
            </a:r>
            <a:endParaRPr lang="ko-KR" altLang="en-US" sz="2800" dirty="0"/>
          </a:p>
        </p:txBody>
      </p:sp>
      <p:sp>
        <p:nvSpPr>
          <p:cNvPr id="234" name="모서리가 둥근 직사각형 233"/>
          <p:cNvSpPr/>
          <p:nvPr/>
        </p:nvSpPr>
        <p:spPr>
          <a:xfrm>
            <a:off x="484379" y="5636308"/>
            <a:ext cx="31428268" cy="36807092"/>
          </a:xfrm>
          <a:prstGeom prst="roundRect">
            <a:avLst>
              <a:gd name="adj" fmla="val 71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2800" dirty="0" err="1"/>
              <a:t>맑</a:t>
            </a:r>
            <a:endParaRPr lang="ko-KR" altLang="en-US" sz="2800" dirty="0"/>
          </a:p>
        </p:txBody>
      </p:sp>
      <p:sp>
        <p:nvSpPr>
          <p:cNvPr id="36" name="TextBox 35"/>
          <p:cNvSpPr txBox="1"/>
          <p:nvPr/>
        </p:nvSpPr>
        <p:spPr>
          <a:xfrm>
            <a:off x="1405075" y="17241622"/>
            <a:ext cx="184671" cy="369258"/>
          </a:xfrm>
          <a:prstGeom prst="rect">
            <a:avLst/>
          </a:prstGeom>
          <a:noFill/>
        </p:spPr>
        <p:txBody>
          <a:bodyPr wrap="none" lIns="91411" tIns="45703" rIns="91411" bIns="45703" rtlCol="0">
            <a:spAutoFit/>
          </a:bodyPr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양쪽 모서리가 둥근 사각형 13"/>
          <p:cNvSpPr/>
          <p:nvPr/>
        </p:nvSpPr>
        <p:spPr>
          <a:xfrm>
            <a:off x="13224793" y="27023774"/>
            <a:ext cx="18396000" cy="898422"/>
          </a:xfrm>
          <a:prstGeom prst="round2Same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기대 효과 </a:t>
            </a:r>
            <a:endParaRPr lang="ko-KR" altLang="en-US" sz="4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양쪽 모서리가 둥근 사각형 30"/>
          <p:cNvSpPr/>
          <p:nvPr/>
        </p:nvSpPr>
        <p:spPr>
          <a:xfrm>
            <a:off x="864793" y="6031388"/>
            <a:ext cx="11700000" cy="874080"/>
          </a:xfrm>
          <a:prstGeom prst="round2Same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프로젝트 개요</a:t>
            </a:r>
            <a:r>
              <a:rPr lang="en-US" altLang="ko-KR" sz="4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4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폰트 변경 금지</a:t>
            </a:r>
            <a:r>
              <a:rPr lang="en-US" altLang="ko-KR" sz="4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4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8" name="양쪽 모서리가 둥근 사각형 127"/>
          <p:cNvSpPr/>
          <p:nvPr/>
        </p:nvSpPr>
        <p:spPr>
          <a:xfrm>
            <a:off x="13065573" y="6017191"/>
            <a:ext cx="18396000" cy="874080"/>
          </a:xfrm>
          <a:prstGeom prst="round2Same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프로젝트 내용</a:t>
            </a:r>
            <a:endParaRPr lang="ko-KR" altLang="en-US" sz="4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양쪽 모서리가 둥근 사각형 61"/>
          <p:cNvSpPr/>
          <p:nvPr/>
        </p:nvSpPr>
        <p:spPr>
          <a:xfrm>
            <a:off x="864793" y="16217385"/>
            <a:ext cx="11700000" cy="874081"/>
          </a:xfrm>
          <a:prstGeom prst="round2Same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목적 및 필요성</a:t>
            </a:r>
            <a:endParaRPr lang="ko-KR" altLang="en-US" sz="4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546926" y="3664290"/>
            <a:ext cx="193031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320108" latinLnBrk="1">
              <a:defRPr/>
            </a:pPr>
            <a:r>
              <a:rPr lang="ko-KR" altLang="en-US" sz="4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강혜빈</a:t>
            </a:r>
            <a:r>
              <a:rPr lang="en-US" altLang="ko-KR" sz="4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4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김민기</a:t>
            </a:r>
            <a:r>
              <a:rPr lang="en-US" altLang="ko-KR" sz="4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4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김성훈</a:t>
            </a:r>
            <a:r>
              <a:rPr lang="en-US" altLang="ko-KR" sz="4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4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윤수현</a:t>
            </a:r>
            <a:r>
              <a:rPr lang="en-US" altLang="ko-KR" sz="4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4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정민수</a:t>
            </a:r>
            <a:r>
              <a:rPr lang="en-US" altLang="ko-KR" sz="4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4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최수영</a:t>
            </a:r>
            <a:endParaRPr lang="en-US" altLang="ko-KR" sz="4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7" name="Rectangle 1"/>
          <p:cNvSpPr>
            <a:spLocks noChangeArrowheads="1"/>
          </p:cNvSpPr>
          <p:nvPr/>
        </p:nvSpPr>
        <p:spPr bwMode="auto">
          <a:xfrm>
            <a:off x="484379" y="782950"/>
            <a:ext cx="31430530" cy="3174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normAutofit/>
          </a:bodyPr>
          <a:lstStyle/>
          <a:p>
            <a:pPr algn="ctr" defTabSz="914309" latinLnBrk="1">
              <a:defRPr/>
            </a:pPr>
            <a:r>
              <a:rPr sz="3600" b="1">
                <a:solidFill>
                  <a:srgbClr val="FFFFFF"/>
                </a:solidFill>
              </a:rPr>
              <a:t>FPGA 비전 및 AI 기반 스마트 팩토리 자율 물류 로봇 시스템</a:t>
            </a:r>
            <a:endParaRPr kumimoji="1" lang="en-US" altLang="ko-KR" sz="8000" b="1" dirty="0">
              <a:latin typeface="맑은 고딕" panose="020B0503020000020004" pitchFamily="50" charset="-127"/>
              <a:ea typeface="맑은 고딕" panose="020B0503020000020004" pitchFamily="50" charset="-127"/>
              <a:cs typeface="굴림" pitchFamily="50" charset="-127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1208493" y="17091466"/>
            <a:ext cx="184671" cy="369258"/>
          </a:xfrm>
          <a:prstGeom prst="rect">
            <a:avLst/>
          </a:prstGeom>
          <a:noFill/>
        </p:spPr>
        <p:txBody>
          <a:bodyPr wrap="none" lIns="91411" tIns="45703" rIns="91411" bIns="45703" rtlCol="0">
            <a:spAutoFit/>
          </a:bodyPr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C2C54C-B24A-4FFB-A9C4-30D1EC657A29}"/>
              </a:ext>
            </a:extLst>
          </p:cNvPr>
          <p:cNvSpPr/>
          <p:nvPr/>
        </p:nvSpPr>
        <p:spPr>
          <a:xfrm>
            <a:off x="872359" y="6998660"/>
            <a:ext cx="11664000" cy="6980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ko-KR" altLang="en-US" sz="36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44BA33D-C85F-4A90-9734-18B225BC5AB1}"/>
              </a:ext>
            </a:extLst>
          </p:cNvPr>
          <p:cNvSpPr/>
          <p:nvPr/>
        </p:nvSpPr>
        <p:spPr>
          <a:xfrm>
            <a:off x="950496" y="16600179"/>
            <a:ext cx="11664000" cy="7071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ko-KR" altLang="en-US" sz="3600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AC47FF2-3F5E-4504-B090-AAAAC030344B}"/>
              </a:ext>
            </a:extLst>
          </p:cNvPr>
          <p:cNvSpPr/>
          <p:nvPr/>
        </p:nvSpPr>
        <p:spPr>
          <a:xfrm>
            <a:off x="13087824" y="28046758"/>
            <a:ext cx="18395999" cy="35252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sz="1200" b="0"/>
              <a:t>1. 실시간 가공 및 비전 추적 능력 향상: FPGA 하드웨어 파이프라인 활용으로 레이턴시 없는 고속 비전 제어 달성</a:t>
            </a:r>
            <a:endParaRPr lang="ko-KR" altLang="en-US" sz="3600" dirty="0">
              <a:solidFill>
                <a:schemeClr val="tx1"/>
              </a:solidFill>
              <a:latin typeface="+mn-ea"/>
            </a:endParaRPr>
          </a:p>
          <a:p>
            <a:r>
              <a:rPr sz="1200" b="0"/>
              <a:t>2. 지능형 자율 물류 구축: RPLidar 및 스캔매칭 위치추정 기반으로 복잡한 맵 환경에서도 오차 없는 슬롯 정밀 진입 구현</a:t>
            </a:r>
          </a:p>
          <a:p>
            <a:r>
              <a:rPr sz="1200" b="0"/>
              <a:t>3. 신뢰성 높은 모듈화 설계: FPGA-PS-Jetson-OpenRB 간 CRC8 응답 패킷 기반 사양 통신 체계 완성으로 확장성 극대화</a:t>
            </a:r>
          </a:p>
          <a:p>
            <a:r>
              <a:rPr sz="1200" b="0"/>
              <a:t>4. 무인 스마트 팩토리 정밀 적재 공정 표준 제시: 비전, AI, 정밀 IK 로봇팔 통합으로 공정 자동화율 100% 달성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96460CE-FBF7-4669-A93B-E8BCECEDBB7C}"/>
              </a:ext>
            </a:extLst>
          </p:cNvPr>
          <p:cNvSpPr/>
          <p:nvPr/>
        </p:nvSpPr>
        <p:spPr>
          <a:xfrm>
            <a:off x="942976" y="7135369"/>
            <a:ext cx="11664000" cy="7071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ko-KR" altLang="en-US" sz="3600" dirty="0" smtClean="0">
                <a:solidFill>
                  <a:schemeClr val="tx1"/>
                </a:solidFill>
              </a:rPr>
              <a:t> </a:t>
            </a:r>
            <a:endParaRPr lang="ko-KR" altLang="en-US" sz="3600" dirty="0">
              <a:solidFill>
                <a:schemeClr val="tx1"/>
              </a:solidFill>
            </a:endParaRPr>
          </a:p>
        </p:txBody>
      </p:sp>
      <p:sp>
        <p:nvSpPr>
          <p:cNvPr id="22" name="양쪽 모서리가 둥근 사각형 21"/>
          <p:cNvSpPr/>
          <p:nvPr/>
        </p:nvSpPr>
        <p:spPr>
          <a:xfrm>
            <a:off x="900793" y="23502916"/>
            <a:ext cx="11700000" cy="874081"/>
          </a:xfrm>
          <a:prstGeom prst="round2Same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400" b="1" dirty="0" smtClean="0">
                <a:solidFill>
                  <a:schemeClr val="bg1"/>
                </a:solidFill>
                <a:latin typeface="맑은 고딕" panose="020B0503020000020004" pitchFamily="50" charset="-127"/>
              </a:rPr>
              <a:t> 팀 구성 </a:t>
            </a:r>
            <a:r>
              <a:rPr lang="ko-KR" altLang="en-US" sz="4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및 역할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44BA33D-C85F-4A90-9734-18B225BC5AB1}"/>
              </a:ext>
            </a:extLst>
          </p:cNvPr>
          <p:cNvSpPr/>
          <p:nvPr/>
        </p:nvSpPr>
        <p:spPr>
          <a:xfrm>
            <a:off x="872359" y="34285038"/>
            <a:ext cx="11664000" cy="7071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sz="1100" b="0"/>
              <a:t>• 하드웨어 플랫폼:</a:t>
            </a:r>
            <a:endParaRPr lang="ko-KR" altLang="en-US" sz="3600" dirty="0">
              <a:solidFill>
                <a:schemeClr val="tx1"/>
              </a:solidFill>
            </a:endParaRPr>
          </a:p>
          <a:p>
            <a:r>
              <a:rPr sz="1100" b="0"/>
              <a:t>  - Xilinx Zybo Z7-20 (Zynq-7000 FPGA + ARM Cortex-A9)</a:t>
            </a:r>
          </a:p>
          <a:p>
            <a:r>
              <a:rPr sz="1100" b="0"/>
              <a:t>  - Raspberry Pi 4 / Nvidia Jetson Nano &amp; Orin</a:t>
            </a:r>
          </a:p>
          <a:p>
            <a:r>
              <a:rPr sz="1100" b="0"/>
              <a:t>  - OpenRB-150 (ARM Cortex-M4F) &amp; Dynamixel 스마트 서보</a:t>
            </a:r>
          </a:p>
          <a:p>
            <a:r>
              <a:rPr sz="1100" b="0"/>
              <a:t>  - RPLidar C1 센서, Pcam 5C (OV5640), Logitech C270 웹캠, HC-SR04 초음파</a:t>
            </a:r>
          </a:p>
          <a:p/>
          <a:p>
            <a:r>
              <a:rPr sz="1100" b="0"/>
              <a:t>• 소프트웨어 및 개발 도구:</a:t>
            </a:r>
          </a:p>
          <a:p>
            <a:r>
              <a:rPr sz="1100" b="0"/>
              <a:t>  - Vivado 2020.2 (Verilog/SystemVerilog RTL 설계)</a:t>
            </a:r>
          </a:p>
          <a:p>
            <a:r>
              <a:rPr sz="1100" b="0"/>
              <a:t>  - Vitis IDE (C/C++ PS 소프트웨어 개발)</a:t>
            </a:r>
          </a:p>
          <a:p>
            <a:r>
              <a:rPr sz="1100" b="0"/>
              <a:t>  - PyTorch / ONNX / TensorRT (MobileNetV3 AI 랙 인식)</a:t>
            </a:r>
          </a:p>
          <a:p>
            <a:r>
              <a:rPr sz="1100" b="0"/>
              <a:t>  - C/C++, Python 3, Arduino IDE, ROS/Linux 환경</a:t>
            </a:r>
          </a:p>
          <a:p>
            <a:r>
              <a:rPr sz="1100" b="0"/>
              <a:t>  - Git &amp; Make 빌드 시스템</a:t>
            </a:r>
          </a:p>
        </p:txBody>
      </p:sp>
      <p:sp>
        <p:nvSpPr>
          <p:cNvPr id="25" name="양쪽 모서리가 둥근 사각형 24"/>
          <p:cNvSpPr/>
          <p:nvPr/>
        </p:nvSpPr>
        <p:spPr>
          <a:xfrm>
            <a:off x="900793" y="32949563"/>
            <a:ext cx="11700000" cy="874081"/>
          </a:xfrm>
          <a:prstGeom prst="round2Same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활용 도구</a:t>
            </a:r>
            <a:endParaRPr lang="ko-KR" altLang="en-US" sz="4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양쪽 모서리가 둥근 사각형 28"/>
          <p:cNvSpPr/>
          <p:nvPr/>
        </p:nvSpPr>
        <p:spPr>
          <a:xfrm>
            <a:off x="13087823" y="32949563"/>
            <a:ext cx="18396000" cy="874081"/>
          </a:xfrm>
          <a:prstGeom prst="round2Same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프로젝트 소감 </a:t>
            </a:r>
            <a:endParaRPr lang="ko-KR" altLang="en-US" sz="4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184968"/>
              </p:ext>
            </p:extLst>
          </p:nvPr>
        </p:nvGraphicFramePr>
        <p:xfrm>
          <a:off x="1208493" y="24838391"/>
          <a:ext cx="10948308" cy="68989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4407">
                  <a:extLst>
                    <a:ext uri="{9D8B030D-6E8A-4147-A177-3AD203B41FA5}">
                      <a16:colId xmlns:a16="http://schemas.microsoft.com/office/drawing/2014/main" val="106888047"/>
                    </a:ext>
                  </a:extLst>
                </a:gridCol>
                <a:gridCol w="8343901">
                  <a:extLst>
                    <a:ext uri="{9D8B030D-6E8A-4147-A177-3AD203B41FA5}">
                      <a16:colId xmlns:a16="http://schemas.microsoft.com/office/drawing/2014/main" val="2200918281"/>
                    </a:ext>
                  </a:extLst>
                </a:gridCol>
              </a:tblGrid>
              <a:tr h="8647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600" dirty="0" smtClean="0"/>
                        <a:t>성명</a:t>
                      </a:r>
                      <a:endParaRPr lang="ko-KR" altLang="en-US" sz="36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600" dirty="0" smtClean="0"/>
                        <a:t>역할</a:t>
                      </a:r>
                      <a:endParaRPr lang="ko-KR" altLang="en-US" sz="36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875302"/>
                  </a:ext>
                </a:extLst>
              </a:tr>
              <a:tr h="120683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김민기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팀장 / FPGA &amp; Vitis 비전 파이프라인 (Zybo Z7-20 RTL, VDMA, UART)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6602287"/>
                  </a:ext>
                </a:extLst>
              </a:tr>
              <a:tr h="120683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강혜빈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AI 딥러닝 랙 상태 인식 (MobileNetV3 ONNX/TensorRT 모델 개발)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82982091"/>
                  </a:ext>
                </a:extLst>
              </a:tr>
              <a:tr h="120683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김성훈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RC 자율주행 셔틀 제어 (LiDAR 스캔매칭, A* 경로계획, PID 추종)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8001191"/>
                  </a:ext>
                </a:extLst>
              </a:tr>
              <a:tr h="120683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윤수현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로봇팔 역운동학(IK) 제어 및 OpenRB-150 Pick &amp; Place 프로필 개발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6936458"/>
                  </a:ext>
                </a:extLst>
              </a:tr>
              <a:tr h="120683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정민수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통합 시스템 UART (CRC8 프로토콜) 제어 및 HW 인터페이스 브링업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0726531"/>
                  </a:ext>
                </a:extLst>
              </a:tr>
            </a:tbl>
          </a:graphicData>
        </a:graphic>
      </p:graphicFrame>
      <p:sp>
        <p:nvSpPr>
          <p:cNvPr id="34" name="직사각형 33">
            <a:extLst>
              <a:ext uri="{FF2B5EF4-FFF2-40B4-BE49-F238E27FC236}">
                <a16:creationId xmlns:a16="http://schemas.microsoft.com/office/drawing/2014/main" id="{144BA33D-C85F-4A90-9734-18B225BC5AB1}"/>
              </a:ext>
            </a:extLst>
          </p:cNvPr>
          <p:cNvSpPr/>
          <p:nvPr/>
        </p:nvSpPr>
        <p:spPr>
          <a:xfrm>
            <a:off x="864793" y="7045995"/>
            <a:ext cx="11664000" cy="7071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sz="1300" b="0"/>
              <a:t>본 프로젝트는 FPGA 비전 인식, LiDAR 기반 자율주행 셔틀, AI 객체 검출 및 6자유도 다관절 로봇팔을 결합한 스마트 팩토리 자동화 물류 시스템입니다.</a:t>
            </a:r>
            <a:endParaRPr lang="ko-KR" altLang="en-US" sz="3600" dirty="0">
              <a:solidFill>
                <a:schemeClr val="tx1"/>
              </a:solidFill>
              <a:latin typeface="+mn-ea"/>
            </a:endParaRPr>
          </a:p>
          <a:p/>
          <a:p>
            <a:r>
              <a:rPr sz="1300" b="0"/>
              <a:t>• Zybo Z7-20 FPGA: Pcam 5C(OV5640) 영상 입력을 처리하여 실시간 HSV 기반 물체 추적 및 좌표 추출</a:t>
            </a:r>
          </a:p>
          <a:p>
            <a:r>
              <a:rPr sz="1300" b="0"/>
              <a:t>• RC 자율주행 셔틀: RPLidar C1과 스캔매칭, A* 경로계획 알고리즘을 이용해 슬롯 A/B 정밀 자동 주행</a:t>
            </a:r>
          </a:p>
          <a:p>
            <a:r>
              <a:rPr sz="1300" b="0"/>
              <a:t>• Jetson &amp; OpenRB 로봇팔: MobileNetV3 딥러닝 기반 랙 슬롯 점유 판단 및 IK(역운동학) 기반 Pick &amp; Place 수행</a:t>
            </a:r>
          </a:p>
          <a:p>
            <a:r>
              <a:rPr sz="1300" b="0"/>
              <a:t>• UART 패킷 통신: CRC8 오류 검증 프로토콜을 통해 기기간 안정적인 좌표 및 상태 데이터 동기화</a:t>
            </a:r>
          </a:p>
        </p:txBody>
      </p:sp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395439"/>
              </p:ext>
            </p:extLst>
          </p:nvPr>
        </p:nvGraphicFramePr>
        <p:xfrm>
          <a:off x="13611343" y="34223391"/>
          <a:ext cx="17304455" cy="75281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6421">
                  <a:extLst>
                    <a:ext uri="{9D8B030D-6E8A-4147-A177-3AD203B41FA5}">
                      <a16:colId xmlns:a16="http://schemas.microsoft.com/office/drawing/2014/main" val="106888047"/>
                    </a:ext>
                  </a:extLst>
                </a:gridCol>
                <a:gridCol w="13188034">
                  <a:extLst>
                    <a:ext uri="{9D8B030D-6E8A-4147-A177-3AD203B41FA5}">
                      <a16:colId xmlns:a16="http://schemas.microsoft.com/office/drawing/2014/main" val="2200918281"/>
                    </a:ext>
                  </a:extLst>
                </a:gridCol>
              </a:tblGrid>
              <a:tr h="9436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600" dirty="0" smtClean="0">
                          <a:latin typeface="+mn-ea"/>
                          <a:ea typeface="+mn-ea"/>
                        </a:rPr>
                        <a:t>성명</a:t>
                      </a:r>
                      <a:endParaRPr lang="ko-KR" altLang="en-US" sz="36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600" dirty="0" smtClean="0">
                          <a:latin typeface="+mn-ea"/>
                          <a:ea typeface="+mn-ea"/>
                        </a:rPr>
                        <a:t>내용</a:t>
                      </a:r>
                      <a:endParaRPr lang="ko-KR" altLang="en-US" sz="36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875302"/>
                  </a:ext>
                </a:extLst>
              </a:tr>
              <a:tr h="13168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김민기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FPGA HW 파이프라인부터 ARM PS SW, 로봇 시스템까지 전체 통합 과정을 경험하며 가치있는 결실을 맺었습니다.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6602287"/>
                  </a:ext>
                </a:extLst>
              </a:tr>
              <a:tr h="13168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강혜빈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실시간 카메라 환경에서의 AI 모델 검증과 실시간 임베디드 랙 인식 연동 기술을 깊이 배울 수 있었습니다.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82982091"/>
                  </a:ext>
                </a:extLst>
              </a:tr>
              <a:tr h="13168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김성훈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LiDAR 스캔매칭과 자율주행 제어 알고리즘을 실기 환경에 직접 적용하며 정밀한 제어 능력을 다졌습니다.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8001191"/>
                  </a:ext>
                </a:extLst>
              </a:tr>
              <a:tr h="13168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윤수현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Dynamixel 로봇팔의 관절 궤적 보정과 3차원 IK를 직접 구현하며 하드웨어 제어 역량을 한 층 끌어올렸습니다.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6936458"/>
                  </a:ext>
                </a:extLst>
              </a:tr>
              <a:tr h="13168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정민수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여러 이종 임베디드 장비 간 무결성 있는 UART 패킷 통신망을 구축하여 시스템 신뢰성을 고도화했습니다.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8783804"/>
                  </a:ext>
                </a:extLst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10" y="1736321"/>
            <a:ext cx="5738080" cy="1901309"/>
          </a:xfrm>
          <a:prstGeom prst="rect">
            <a:avLst/>
          </a:prstGeom>
        </p:spPr>
      </p:pic>
      <p:sp>
        <p:nvSpPr>
          <p:cNvPr id="38" name="직사각형 37">
            <a:extLst>
              <a:ext uri="{FF2B5EF4-FFF2-40B4-BE49-F238E27FC236}">
                <a16:creationId xmlns:a16="http://schemas.microsoft.com/office/drawing/2014/main" id="{144BA33D-C85F-4A90-9734-18B225BC5AB1}"/>
              </a:ext>
            </a:extLst>
          </p:cNvPr>
          <p:cNvSpPr/>
          <p:nvPr/>
        </p:nvSpPr>
        <p:spPr>
          <a:xfrm>
            <a:off x="864793" y="17241622"/>
            <a:ext cx="11788007" cy="54001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sz="1200" b="0"/>
              <a:t>1. 물류 자동화 효율 증대:</a:t>
            </a:r>
            <a:endParaRPr lang="ko-KR" altLang="en-US" sz="3600" dirty="0">
              <a:solidFill>
                <a:schemeClr val="tx1"/>
              </a:solidFill>
              <a:latin typeface="+mn-ea"/>
            </a:endParaRPr>
          </a:p>
          <a:p>
            <a:r>
              <a:rPr sz="1200" b="0"/>
              <a:t>   수작업 물류 이송 및 적재 공정을 실시간 컴퓨터 비전 및 자율 로보틱스 시스템으로 자동화하여 생산성 향상</a:t>
            </a:r>
          </a:p>
          <a:p/>
          <a:p>
            <a:r>
              <a:rPr sz="1200" b="0"/>
              <a:t>2. 하드웨어 가속 기반 실시간 처리 필요성:</a:t>
            </a:r>
          </a:p>
          <a:p>
            <a:r>
              <a:rPr sz="1200" b="0"/>
              <a:t>   고해상도(1080p) 영상의 실시간 색상 분류 및 객체 추적을 FPGA(PL) 파이프라인으로 구현하여 딜레이 최소화</a:t>
            </a:r>
          </a:p>
          <a:p/>
          <a:p>
            <a:r>
              <a:rPr sz="1200" b="0"/>
              <a:t>3. 지능형 슬롯 적재 시스템 구획:</a:t>
            </a:r>
          </a:p>
          <a:p>
            <a:r>
              <a:rPr sz="1200" b="0"/>
              <a:t>   AI 카메라(Jetson)를 이용해 랙의 빈 슬롯을 실시간 파악하고, 로봇팔이 정확한 위치에 비어있는 칸을 선별하여 자동 적재</a:t>
            </a:r>
          </a:p>
          <a:p/>
          <a:p>
            <a:r>
              <a:rPr sz="1200" b="0"/>
              <a:t>4. 신뢰성 높은 통합 제어 체계 구축:</a:t>
            </a:r>
          </a:p>
          <a:p>
            <a:r>
              <a:rPr sz="1200" b="0"/>
              <a:t>   초음파 센서(HC-SR04) 안전 가드 및 라이다 비상 회피 등 스마트 팩토리 환경에서의 정밀성 및 안전성 확보</a:t>
            </a:r>
          </a:p>
        </p:txBody>
      </p:sp>
      <p:sp>
        <p:nvSpPr>
          <p:cNvPr id="43" name="순서도: 처리 42"/>
          <p:cNvSpPr/>
          <p:nvPr/>
        </p:nvSpPr>
        <p:spPr>
          <a:xfrm>
            <a:off x="13087824" y="7468391"/>
            <a:ext cx="8329359" cy="768547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/>
              <a:t>시스템 핵심 구성 및 주요 동작 알고리즘</a:t>
            </a:r>
            <a:endParaRPr lang="en-US" altLang="ko-KR" sz="3200" b="1" dirty="0">
              <a:latin typeface="+mn-ea"/>
            </a:endParaRPr>
          </a:p>
        </p:txBody>
      </p:sp>
      <p:sp>
        <p:nvSpPr>
          <p:cNvPr id="50" name="순서도: 처리 49"/>
          <p:cNvSpPr/>
          <p:nvPr/>
        </p:nvSpPr>
        <p:spPr>
          <a:xfrm>
            <a:off x="872359" y="34217405"/>
            <a:ext cx="2956691" cy="768547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/>
              <a:t>주요 개발 환경 및 활용 도구</a:t>
            </a:r>
            <a:endParaRPr lang="en-US" altLang="ko-KR" sz="3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16105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3376</TotalTime>
  <Words>80</Words>
  <Application>Microsoft Office PowerPoint</Application>
  <PresentationFormat>사용자 지정</PresentationFormat>
  <Paragraphs>22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굴림</vt:lpstr>
      <vt:lpstr>맑은 고딕</vt:lpstr>
      <vt:lpstr>Arial</vt:lpstr>
      <vt:lpstr>Calibri</vt:lpstr>
      <vt:lpstr>Calibri Light</vt:lpstr>
      <vt:lpstr>Times New Roman</vt:lpstr>
      <vt:lpstr>Wingdings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kccistc</cp:lastModifiedBy>
  <cp:revision>241</cp:revision>
  <cp:lastPrinted>2018-09-28T04:52:25Z</cp:lastPrinted>
  <dcterms:created xsi:type="dcterms:W3CDTF">2018-09-28T01:59:17Z</dcterms:created>
  <dcterms:modified xsi:type="dcterms:W3CDTF">2026-08-12T00:26:32Z</dcterms:modified>
</cp:coreProperties>
</file>